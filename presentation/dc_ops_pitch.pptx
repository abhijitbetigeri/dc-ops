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058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00E67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DC-OPS</a:t>
            </a:r>
            <a:endParaRPr lang="en-US" sz="7200" dirty="0"/>
          </a:p>
        </p:txBody>
      </p:sp>
      <p:sp>
        <p:nvSpPr>
          <p:cNvPr id="3" name="Text 1"/>
          <p:cNvSpPr/>
          <p:nvPr/>
        </p:nvSpPr>
        <p:spPr>
          <a:xfrm>
            <a:off x="731520" y="22860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On-Device Data Center Operations Assistant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32004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Qualcomm x Meta ExecuTorch Hackathon — June 2026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411480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Real-time AI-powered server rack inspection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Running entirely on Samsung Galaxy S25 Ultra — Snapdragon 8 Elite NPU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731520" y="5669280"/>
            <a:ext cx="2286000" cy="54864"/>
          </a:xfrm>
          <a:prstGeom prst="rect">
            <a:avLst/>
          </a:prstGeom>
          <a:solidFill>
            <a:srgbClr val="00E676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E67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PROBLEM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31520" y="1371600"/>
            <a:ext cx="10424160" cy="914400"/>
          </a:xfrm>
          <a:prstGeom prst="roundRect">
            <a:avLst>
              <a:gd name="adj" fmla="val 10000"/>
            </a:avLst>
          </a:prstGeom>
          <a:solidFill>
            <a:srgbClr val="161B22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46304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🔒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737360" y="141732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Air-Gapped Environments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737360" y="18288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centers prohibit cloud connectivity in server rooms — no API calls possible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731520" y="2468880"/>
            <a:ext cx="10424160" cy="914400"/>
          </a:xfrm>
          <a:prstGeom prst="roundRect">
            <a:avLst>
              <a:gd name="adj" fmla="val 10000"/>
            </a:avLst>
          </a:prstGeom>
          <a:solidFill>
            <a:srgbClr val="161B22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256032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🕐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1737360" y="251460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Slow Manual Inspection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737360" y="29260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Technicians walk aisles checking thousands of LEDs, ports, and cables by eye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31520" y="3566160"/>
            <a:ext cx="10424160" cy="914400"/>
          </a:xfrm>
          <a:prstGeom prst="roundRect">
            <a:avLst>
              <a:gd name="adj" fmla="val 10000"/>
            </a:avLst>
          </a:prstGeom>
          <a:solidFill>
            <a:srgbClr val="161B22"/>
          </a:solidFill>
          <a:ln/>
        </p:spPr>
      </p:sp>
      <p:sp>
        <p:nvSpPr>
          <p:cNvPr id="12" name="Text 10"/>
          <p:cNvSpPr/>
          <p:nvPr/>
        </p:nvSpPr>
        <p:spPr>
          <a:xfrm>
            <a:off x="914400" y="365760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🔐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1737360" y="361188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Sensitive Infrastructure Data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737360" y="40233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Serial numbers, rack topology, and server status are classified information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4663440"/>
            <a:ext cx="10424160" cy="914400"/>
          </a:xfrm>
          <a:prstGeom prst="roundRect">
            <a:avLst>
              <a:gd name="adj" fmla="val 10000"/>
            </a:avLst>
          </a:prstGeom>
          <a:solidFill>
            <a:srgbClr val="161B22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475488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📶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1737360" y="47091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Connectivity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737360" y="5120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 connected DCs have dead zones between rack rows — WiFi is unreliable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E67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SOLUTION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118872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Point your phone at any server rack.</a:t>
            </a:r>
            <a:endParaRPr lang="en-US" sz="20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identifies every component in real-time.</a:t>
            </a:r>
            <a:endParaRPr lang="en-US" sz="20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processing happens on-device — zero cloud.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31520" y="2743200"/>
            <a:ext cx="3291840" cy="2286000"/>
          </a:xfrm>
          <a:prstGeom prst="roundRect">
            <a:avLst>
              <a:gd name="adj" fmla="val 4000"/>
            </a:avLst>
          </a:prstGeom>
          <a:solidFill>
            <a:srgbClr val="161B22"/>
          </a:solidFill>
          <a:ln/>
        </p:spPr>
      </p:sp>
      <p:sp>
        <p:nvSpPr>
          <p:cNvPr id="5" name="Shape 3"/>
          <p:cNvSpPr/>
          <p:nvPr/>
        </p:nvSpPr>
        <p:spPr>
          <a:xfrm>
            <a:off x="731520" y="2743200"/>
            <a:ext cx="3291840" cy="54864"/>
          </a:xfrm>
          <a:prstGeom prst="rect">
            <a:avLst/>
          </a:prstGeom>
          <a:solidFill>
            <a:srgbClr val="00E676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301752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Component Classes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14400" y="3657600"/>
            <a:ext cx="29260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Compute trays, ports, LEDs, cables, fans, drives, PSUs, DPUs, and more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389120" y="2743200"/>
            <a:ext cx="3291840" cy="2286000"/>
          </a:xfrm>
          <a:prstGeom prst="roundRect">
            <a:avLst>
              <a:gd name="adj" fmla="val 4000"/>
            </a:avLst>
          </a:prstGeom>
          <a:solidFill>
            <a:srgbClr val="161B22"/>
          </a:solidFill>
          <a:ln/>
        </p:spPr>
      </p:sp>
      <p:sp>
        <p:nvSpPr>
          <p:cNvPr id="9" name="Shape 7"/>
          <p:cNvSpPr/>
          <p:nvPr/>
        </p:nvSpPr>
        <p:spPr>
          <a:xfrm>
            <a:off x="4389120" y="2743200"/>
            <a:ext cx="3291840" cy="54864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0" y="301752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 Knowledge Overlay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572000" y="3657600"/>
            <a:ext cx="29260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Tap any detection → specs, troubleshooting, LED meanings, maintenance steps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046720" y="2743200"/>
            <a:ext cx="3291840" cy="2286000"/>
          </a:xfrm>
          <a:prstGeom prst="roundRect">
            <a:avLst>
              <a:gd name="adj" fmla="val 4000"/>
            </a:avLst>
          </a:prstGeom>
          <a:solidFill>
            <a:srgbClr val="161B22"/>
          </a:solidFill>
          <a:ln/>
        </p:spPr>
      </p:sp>
      <p:sp>
        <p:nvSpPr>
          <p:cNvPr id="13" name="Shape 11"/>
          <p:cNvSpPr/>
          <p:nvPr/>
        </p:nvSpPr>
        <p:spPr>
          <a:xfrm>
            <a:off x="8046720" y="2743200"/>
            <a:ext cx="3291840" cy="54864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0" y="301752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CPU vs NPU Toggle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8229600" y="3657600"/>
            <a:ext cx="29260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comparison: XNNPACK (CPU) ↔ QNN HTP (Snapdragon NPU) with FPS/latency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E67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WHY ON-DEVICE?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31520" y="1371600"/>
            <a:ext cx="2468880" cy="3200400"/>
          </a:xfrm>
          <a:prstGeom prst="roundRect">
            <a:avLst>
              <a:gd name="adj" fmla="val 3704"/>
            </a:avLst>
          </a:prstGeom>
          <a:solidFill>
            <a:srgbClr val="161B22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645920"/>
            <a:ext cx="24688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0E67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0ms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731520" y="256032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Latency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14400" y="3108960"/>
            <a:ext cx="21031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round-trip — inference directly on Hexagon NPU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474720" y="1371600"/>
            <a:ext cx="2468880" cy="3200400"/>
          </a:xfrm>
          <a:prstGeom prst="roundRect">
            <a:avLst>
              <a:gd name="adj" fmla="val 3704"/>
            </a:avLst>
          </a:prstGeom>
          <a:solidFill>
            <a:srgbClr val="161B22"/>
          </a:solidFill>
          <a:ln/>
        </p:spPr>
      </p:sp>
      <p:sp>
        <p:nvSpPr>
          <p:cNvPr id="8" name="Text 6"/>
          <p:cNvSpPr/>
          <p:nvPr/>
        </p:nvSpPr>
        <p:spPr>
          <a:xfrm>
            <a:off x="3474720" y="1645920"/>
            <a:ext cx="24688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0E67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100%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3474720" y="256032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Offline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3657600" y="3108960"/>
            <a:ext cx="21031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 in air-gapped rooms with zero connectivity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17920" y="1371600"/>
            <a:ext cx="2468880" cy="3200400"/>
          </a:xfrm>
          <a:prstGeom prst="roundRect">
            <a:avLst>
              <a:gd name="adj" fmla="val 3704"/>
            </a:avLst>
          </a:prstGeom>
          <a:solidFill>
            <a:srgbClr val="161B22"/>
          </a:solidFill>
          <a:ln/>
        </p:spPr>
      </p:sp>
      <p:sp>
        <p:nvSpPr>
          <p:cNvPr id="12" name="Text 10"/>
          <p:cNvSpPr/>
          <p:nvPr/>
        </p:nvSpPr>
        <p:spPr>
          <a:xfrm>
            <a:off x="6217920" y="1645920"/>
            <a:ext cx="24688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0E67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 bytes</a:t>
            </a:r>
            <a:endParaRPr lang="en-US" sz="4800" dirty="0"/>
          </a:p>
        </p:txBody>
      </p:sp>
      <p:sp>
        <p:nvSpPr>
          <p:cNvPr id="13" name="Text 11"/>
          <p:cNvSpPr/>
          <p:nvPr/>
        </p:nvSpPr>
        <p:spPr>
          <a:xfrm>
            <a:off x="6217920" y="256032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Leaked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400800" y="3108960"/>
            <a:ext cx="21031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Serial numbers and infra data never leave the device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961120" y="1371600"/>
            <a:ext cx="2468880" cy="3200400"/>
          </a:xfrm>
          <a:prstGeom prst="roundRect">
            <a:avLst>
              <a:gd name="adj" fmla="val 3704"/>
            </a:avLst>
          </a:prstGeom>
          <a:solidFill>
            <a:srgbClr val="161B22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1645920"/>
            <a:ext cx="24688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0E67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4-5x</a:t>
            </a:r>
            <a:endParaRPr lang="en-US" sz="4800" dirty="0"/>
          </a:p>
        </p:txBody>
      </p:sp>
      <p:sp>
        <p:nvSpPr>
          <p:cNvPr id="17" name="Text 15"/>
          <p:cNvSpPr/>
          <p:nvPr/>
        </p:nvSpPr>
        <p:spPr>
          <a:xfrm>
            <a:off x="8961120" y="256032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 Efficient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144000" y="3108960"/>
            <a:ext cx="21031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NPU vs CPU — longer battery life for extended inspections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E67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ARCHITECTURE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645920"/>
            <a:ext cx="2194560" cy="1097280"/>
          </a:xfrm>
          <a:prstGeom prst="roundRect">
            <a:avLst>
              <a:gd name="adj" fmla="val 8333"/>
            </a:avLst>
          </a:prstGeom>
          <a:solidFill>
            <a:srgbClr val="161B22"/>
          </a:solidFill>
          <a:ln w="25400">
            <a:solidFill>
              <a:srgbClr val="2196F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737360"/>
            <a:ext cx="21945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(CameraX 30fps)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2651760" y="182880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8B949E"/>
                </a:solidFill>
              </a:rPr>
              <a:t>→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2926080" y="1645920"/>
            <a:ext cx="2194560" cy="1097280"/>
          </a:xfrm>
          <a:prstGeom prst="roundRect">
            <a:avLst>
              <a:gd name="adj" fmla="val 8333"/>
            </a:avLst>
          </a:prstGeom>
          <a:solidFill>
            <a:srgbClr val="161B22"/>
          </a:solidFill>
          <a:ln w="25400">
            <a:solidFill>
              <a:srgbClr val="00E67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926080" y="1737360"/>
            <a:ext cx="21945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RetinaNet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(INT8 Quantized)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120640" y="182880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8B949E"/>
                </a:solidFill>
              </a:rPr>
              <a:t>→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5394960" y="1645920"/>
            <a:ext cx="2194560" cy="1097280"/>
          </a:xfrm>
          <a:prstGeom prst="roundRect">
            <a:avLst>
              <a:gd name="adj" fmla="val 8333"/>
            </a:avLst>
          </a:prstGeom>
          <a:solidFill>
            <a:srgbClr val="161B22"/>
          </a:solidFill>
          <a:ln w="25400">
            <a:solidFill>
              <a:srgbClr val="FF98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394960" y="1737360"/>
            <a:ext cx="21945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QNN HTP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(Snapdragon NPU)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589520" y="182880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8B949E"/>
                </a:solidFill>
              </a:rPr>
              <a:t>→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7863840" y="1645920"/>
            <a:ext cx="2194560" cy="1097280"/>
          </a:xfrm>
          <a:prstGeom prst="roundRect">
            <a:avLst>
              <a:gd name="adj" fmla="val 8333"/>
            </a:avLst>
          </a:prstGeom>
          <a:solidFill>
            <a:srgbClr val="161B22"/>
          </a:solidFill>
          <a:ln w="25400">
            <a:solidFill>
              <a:srgbClr val="E040F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863840" y="1737360"/>
            <a:ext cx="21945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DC Classes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(Polygon Overlay)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2926080" y="3200400"/>
            <a:ext cx="5760720" cy="914400"/>
          </a:xfrm>
          <a:prstGeom prst="roundRect">
            <a:avLst>
              <a:gd name="adj" fmla="val 10000"/>
            </a:avLst>
          </a:prstGeom>
          <a:solidFill>
            <a:srgbClr val="161B22"/>
          </a:solidFill>
          <a:ln w="12700">
            <a:solidFill>
              <a:srgbClr val="2196F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108960" y="3246120"/>
            <a:ext cx="5394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 Knowledge Overlay: CLIP ViT-B-32 → FAISS (160KB) → Specs, Troubleshooting, LED Meanings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200400"/>
            <a:ext cx="2194560" cy="914400"/>
          </a:xfrm>
          <a:prstGeom prst="roundRect">
            <a:avLst>
              <a:gd name="adj" fmla="val 10000"/>
            </a:avLst>
          </a:prstGeom>
          <a:solidFill>
            <a:srgbClr val="161B22"/>
          </a:solidFill>
          <a:ln w="12700">
            <a:solidFill>
              <a:srgbClr val="FF572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246120"/>
            <a:ext cx="21945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3D NVL72 Rack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(Three.js Interactive)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731520" y="45720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Android App → ExecuTorch Runtime → QAIRT SDK → Snapdragon NPU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E67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TECH STACK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31520" y="1188720"/>
            <a:ext cx="10424160" cy="54864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18872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E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Detection (NPU)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3657600" y="118872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RetinaNet-ResNet50-FPN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498080" y="1188720"/>
            <a:ext cx="3474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QNN HTP, INT8, 36MB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1783080"/>
            <a:ext cx="10424160" cy="548640"/>
          </a:xfrm>
          <a:prstGeom prst="rect">
            <a:avLst/>
          </a:prstGeom>
          <a:solidFill>
            <a:srgbClr val="0D1117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178308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E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Detection (CPU)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657600" y="178308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YOLOv8n-seg v3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498080" y="1783080"/>
            <a:ext cx="3474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XNNPACK, FP32, 13MB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31520" y="2377440"/>
            <a:ext cx="10424160" cy="54864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237744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E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 Retrieval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657600" y="237744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CLIP ViT-B-32 + FAISS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7498080" y="2377440"/>
            <a:ext cx="3474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160KB index, on-device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31520" y="2971800"/>
            <a:ext cx="10424160" cy="548640"/>
          </a:xfrm>
          <a:prstGeom prst="rect">
            <a:avLst/>
          </a:prstGeom>
          <a:solidFill>
            <a:srgbClr val="0D1117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297180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E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Runtime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657600" y="297180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ExecuTorch 1.4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7498080" y="2971800"/>
            <a:ext cx="3474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QNN backend for SM8750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31520" y="3566160"/>
            <a:ext cx="10424160" cy="54864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20" name="Text 18"/>
          <p:cNvSpPr/>
          <p:nvPr/>
        </p:nvSpPr>
        <p:spPr>
          <a:xfrm>
            <a:off x="822960" y="356616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E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3657600" y="356616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Kotlin + CameraX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7498080" y="3566160"/>
            <a:ext cx="3474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ExecuTorch AAR (3.4MB)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731520" y="4160520"/>
            <a:ext cx="10424160" cy="548640"/>
          </a:xfrm>
          <a:prstGeom prst="rect">
            <a:avLst/>
          </a:prstGeom>
          <a:solidFill>
            <a:srgbClr val="0D1117"/>
          </a:solidFill>
          <a:ln/>
        </p:spPr>
      </p:sp>
      <p:sp>
        <p:nvSpPr>
          <p:cNvPr id="24" name="Text 22"/>
          <p:cNvSpPr/>
          <p:nvPr/>
        </p:nvSpPr>
        <p:spPr>
          <a:xfrm>
            <a:off x="822960" y="416052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E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Device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3657600" y="416052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Galaxy S25 Ultra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7498080" y="4160520"/>
            <a:ext cx="3474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Snapdragon 8 Elite, Hexagon v79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731520" y="4754880"/>
            <a:ext cx="10424160" cy="54864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28" name="Text 26"/>
          <p:cNvSpPr/>
          <p:nvPr/>
        </p:nvSpPr>
        <p:spPr>
          <a:xfrm>
            <a:off x="822960" y="475488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E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3D Visualization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3657600" y="475488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Three.js NVL72 Model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7498080" y="4754880"/>
            <a:ext cx="3474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Interactive rack explorer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E67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TRAINING PIPELINE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31520" y="1097280"/>
            <a:ext cx="10424160" cy="1051560"/>
          </a:xfrm>
          <a:prstGeom prst="roundRect">
            <a:avLst>
              <a:gd name="adj" fmla="val 8696"/>
            </a:avLst>
          </a:prstGeom>
          <a:solidFill>
            <a:srgbClr val="161B22"/>
          </a:solidFill>
          <a:ln w="19050">
            <a:solidFill>
              <a:srgbClr val="FF98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14400" y="12070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 — Bootstrap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914400" y="1572768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BrightData Web Unlocker scraped 300+ data-center images  →  auto-labeled with Grounding DINO + SAM (3,045 polygons)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31520" y="23317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E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 — 2,036 human-labeled images from 4 Roboflow datasets (CC BY 4.0)  ·  used for final models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31520" y="283464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 Vision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017520" y="283464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E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1,293 imgs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389120" y="283464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classes (CPU, DIMM, fans, PSUs, drives)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144000" y="2944368"/>
            <a:ext cx="1828800" cy="164592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11" name="Shape 9"/>
          <p:cNvSpPr/>
          <p:nvPr/>
        </p:nvSpPr>
        <p:spPr>
          <a:xfrm>
            <a:off x="9144000" y="2944368"/>
            <a:ext cx="1170432" cy="164592"/>
          </a:xfrm>
          <a:prstGeom prst="rect">
            <a:avLst/>
          </a:prstGeom>
          <a:solidFill>
            <a:srgbClr val="00E676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3401568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PC Ports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017520" y="3401568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E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327 imgs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389120" y="3401568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classes (HDMI, RJ45, USB-A, USB-C)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9144000" y="3511296"/>
            <a:ext cx="1828800" cy="164592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16" name="Shape 14"/>
          <p:cNvSpPr/>
          <p:nvPr/>
        </p:nvSpPr>
        <p:spPr>
          <a:xfrm>
            <a:off x="9144000" y="3511296"/>
            <a:ext cx="292608" cy="164592"/>
          </a:xfrm>
          <a:prstGeom prst="rect">
            <a:avLst/>
          </a:prstGeom>
          <a:solidFill>
            <a:srgbClr val="00E676"/>
          </a:solidFill>
          <a:ln/>
        </p:spPr>
      </p:sp>
      <p:sp>
        <p:nvSpPr>
          <p:cNvPr id="17" name="Text 15"/>
          <p:cNvSpPr/>
          <p:nvPr/>
        </p:nvSpPr>
        <p:spPr>
          <a:xfrm>
            <a:off x="731520" y="3968496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Ports (ym)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017520" y="3968496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E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138 imgs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389120" y="3968496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classes (DP, ethernet, power, USB)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9144000" y="4078224"/>
            <a:ext cx="1828800" cy="164592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21" name="Shape 19"/>
          <p:cNvSpPr/>
          <p:nvPr/>
        </p:nvSpPr>
        <p:spPr>
          <a:xfrm>
            <a:off x="9144000" y="4078224"/>
            <a:ext cx="128016" cy="164592"/>
          </a:xfrm>
          <a:prstGeom prst="rect">
            <a:avLst/>
          </a:prstGeom>
          <a:solidFill>
            <a:srgbClr val="00E676"/>
          </a:solidFill>
          <a:ln/>
        </p:spPr>
      </p:sp>
      <p:sp>
        <p:nvSpPr>
          <p:cNvPr id="22" name="Text 20"/>
          <p:cNvSpPr/>
          <p:nvPr/>
        </p:nvSpPr>
        <p:spPr>
          <a:xfrm>
            <a:off x="731520" y="4535424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 Detection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3017520" y="4535424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E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 imgs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389120" y="4535424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classes (SFP, XFP, patch panels)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9144000" y="4645152"/>
            <a:ext cx="1828800" cy="164592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26" name="Shape 24"/>
          <p:cNvSpPr/>
          <p:nvPr/>
        </p:nvSpPr>
        <p:spPr>
          <a:xfrm>
            <a:off x="9144000" y="4645152"/>
            <a:ext cx="54864" cy="164592"/>
          </a:xfrm>
          <a:prstGeom prst="rect">
            <a:avLst/>
          </a:prstGeom>
          <a:solidFill>
            <a:srgbClr val="00E676"/>
          </a:solidFill>
          <a:ln/>
        </p:spPr>
      </p:sp>
      <p:sp>
        <p:nvSpPr>
          <p:cNvPr id="27" name="Text 25"/>
          <p:cNvSpPr/>
          <p:nvPr/>
        </p:nvSpPr>
        <p:spPr>
          <a:xfrm>
            <a:off x="731520" y="52120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50+ source classes → mapped to 16 DC-Ops classes   ·   Augmentations: Moiré, screen glare, brightness, color tint, scanlines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731520" y="56692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⚡ Powered by BrightData — web data infrastructure for the bootstrap dataset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E67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MODEL PERFORMANCE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31520" y="1188720"/>
            <a:ext cx="3291840" cy="1645920"/>
          </a:xfrm>
          <a:prstGeom prst="roundRect">
            <a:avLst>
              <a:gd name="adj" fmla="val 5556"/>
            </a:avLst>
          </a:prstGeom>
          <a:solidFill>
            <a:srgbClr val="161B22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28016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0E67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0.749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731520" y="201168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mAP50 (box)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YOLOv8n-seg v3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389120" y="1188720"/>
            <a:ext cx="3291840" cy="1645920"/>
          </a:xfrm>
          <a:prstGeom prst="roundRect">
            <a:avLst>
              <a:gd name="adj" fmla="val 5556"/>
            </a:avLst>
          </a:prstGeom>
          <a:solidFill>
            <a:srgbClr val="161B22"/>
          </a:solidFill>
          <a:ln/>
        </p:spPr>
      </p:sp>
      <p:sp>
        <p:nvSpPr>
          <p:cNvPr id="8" name="Text 6"/>
          <p:cNvSpPr/>
          <p:nvPr/>
        </p:nvSpPr>
        <p:spPr>
          <a:xfrm>
            <a:off x="4389120" y="128016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0E67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0.85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4389120" y="201168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 Loss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389120" y="237744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RetinaNet (moiré aug)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046720" y="1188720"/>
            <a:ext cx="3291840" cy="1645920"/>
          </a:xfrm>
          <a:prstGeom prst="roundRect">
            <a:avLst>
              <a:gd name="adj" fmla="val 5556"/>
            </a:avLst>
          </a:prstGeom>
          <a:solidFill>
            <a:srgbClr val="161B22"/>
          </a:solidFill>
          <a:ln/>
        </p:spPr>
      </p:sp>
      <p:sp>
        <p:nvSpPr>
          <p:cNvPr id="12" name="Text 10"/>
          <p:cNvSpPr/>
          <p:nvPr/>
        </p:nvSpPr>
        <p:spPr>
          <a:xfrm>
            <a:off x="8046720" y="128016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0E67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6.4ms</a:t>
            </a:r>
            <a:endParaRPr lang="en-US" sz="4400" dirty="0"/>
          </a:p>
        </p:txBody>
      </p:sp>
      <p:sp>
        <p:nvSpPr>
          <p:cNvPr id="13" name="Text 11"/>
          <p:cNvSpPr/>
          <p:nvPr/>
        </p:nvSpPr>
        <p:spPr>
          <a:xfrm>
            <a:off x="8046720" y="201168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Inference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8046720" y="237744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frame on T4 GPU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31520" y="320040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compute tray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474720" y="320040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E67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0.924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731520" y="370332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network port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474720" y="370332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E67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0.912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31520" y="420624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 shelf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3474720" y="420624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E67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0.832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731520" y="470916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LED indicator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3474720" y="470916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E67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0.808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217920" y="320040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 rack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8961120" y="320040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E67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0.683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217920" y="370332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drive bay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8961120" y="370332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E67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0.912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217920" y="420624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DPU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8961120" y="420624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E67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0.808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217920" y="470916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cooling manifold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8961120" y="470916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E67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0.833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E67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LIVE DEMO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31520" y="1188720"/>
            <a:ext cx="1097280" cy="685800"/>
          </a:xfrm>
          <a:prstGeom prst="roundRect">
            <a:avLst>
              <a:gd name="adj" fmla="val 13333"/>
            </a:avLst>
          </a:prstGeom>
          <a:solidFill>
            <a:srgbClr val="00E676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188720"/>
            <a:ext cx="10972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11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0:00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2011680" y="118872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Point phone at server rack / mini PC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2011680" y="15544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Real-time colored polygon overlays appear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2057400"/>
            <a:ext cx="1097280" cy="685800"/>
          </a:xfrm>
          <a:prstGeom prst="roundRect">
            <a:avLst>
              <a:gd name="adj" fmla="val 13333"/>
            </a:avLst>
          </a:prstGeom>
          <a:solidFill>
            <a:srgbClr val="00E676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2057400"/>
            <a:ext cx="10972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11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1:00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2011680" y="205740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Tap detected component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2011680" y="24231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 info panel: specs, troubleshooting, LED meanings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31520" y="2926080"/>
            <a:ext cx="1097280" cy="685800"/>
          </a:xfrm>
          <a:prstGeom prst="roundRect">
            <a:avLst>
              <a:gd name="adj" fmla="val 13333"/>
            </a:avLst>
          </a:prstGeom>
          <a:solidFill>
            <a:srgbClr val="00E676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2926080"/>
            <a:ext cx="10972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11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2:00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2011680" y="292608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Toggle CPU ↔ NPU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2011680" y="3291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FPS/latency comparison on screen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31520" y="3794760"/>
            <a:ext cx="1097280" cy="685800"/>
          </a:xfrm>
          <a:prstGeom prst="roundRect">
            <a:avLst>
              <a:gd name="adj" fmla="val 13333"/>
            </a:avLst>
          </a:prstGeom>
          <a:solidFill>
            <a:srgbClr val="00E676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3794760"/>
            <a:ext cx="10972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11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3:00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2011680" y="379476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Enable airplane mode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2011680" y="41605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Everything still works — fully offline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31520" y="4663440"/>
            <a:ext cx="1097280" cy="685800"/>
          </a:xfrm>
          <a:prstGeom prst="roundRect">
            <a:avLst>
              <a:gd name="adj" fmla="val 13333"/>
            </a:avLst>
          </a:prstGeom>
          <a:solidFill>
            <a:srgbClr val="00E676"/>
          </a:solidFill>
          <a:ln/>
        </p:spPr>
      </p:sp>
      <p:sp>
        <p:nvSpPr>
          <p:cNvPr id="20" name="Text 18"/>
          <p:cNvSpPr/>
          <p:nvPr/>
        </p:nvSpPr>
        <p:spPr>
          <a:xfrm>
            <a:off x="731520" y="4663440"/>
            <a:ext cx="10972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11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4:00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2011680" y="466344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3D rack explorer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2011680" y="50292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Interactive NVL72 model with component details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E67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RETINANET IN ACTION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10515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detections on a Raspberry Pi &amp; USB hub — mirrors our physical demo prop</a:t>
            </a:r>
            <a:endParaRPr lang="en-US" sz="1500" dirty="0"/>
          </a:p>
        </p:txBody>
      </p:sp>
      <p:pic>
        <p:nvPicPr>
          <p:cNvPr id="4" name="Image 0" descr="/Users/abhijitbetigeri/projects/DC-Ops/data/retinanet_demo/det_pc_ports_valid_20230515_214424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31520" y="1645920"/>
            <a:ext cx="5120640" cy="3840480"/>
          </a:xfrm>
          <a:prstGeom prst="rect">
            <a:avLst/>
          </a:prstGeom>
        </p:spPr>
      </p:pic>
      <p:pic>
        <p:nvPicPr>
          <p:cNvPr id="5" name="Image 1" descr="/Users/abhijitbetigeri/projects/DC-Ops/data/retinanet_demo/det_pc_ports_valid_20230515_212627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17920" y="1645920"/>
            <a:ext cx="5120640" cy="384048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731520" y="55778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USB + RJ45 ports detected as 'network port' — fully on-device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E67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RAG KNOWLEDGE OVERLAY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10972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Detect → Embed → Retrieve → Display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1371600" y="1828800"/>
            <a:ext cx="5029200" cy="3200400"/>
          </a:xfrm>
          <a:prstGeom prst="roundRect">
            <a:avLst>
              <a:gd name="adj" fmla="val 4286"/>
            </a:avLst>
          </a:prstGeom>
          <a:solidFill>
            <a:srgbClr val="161B22"/>
          </a:solidFill>
          <a:ln w="25400">
            <a:solidFill>
              <a:srgbClr val="00E67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554480" y="1920240"/>
            <a:ext cx="4663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E67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COMPUTE TRAY                           92%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554480" y="2468880"/>
            <a:ext cx="466344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⚙️  2x Grace CPU, 4x B200 GPU, 192GB HBM3e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🟢  Green LED = healthy and operational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🟡  Amber LED = check BMC log, verify coolant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🔴  Red LED = critical hardware failure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🔧  Maintenance: check cold plate contact,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verify NVLink connector seating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858000" y="201168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80 knowledge chunks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858000" y="251460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CLIP ViT-B-32 embeddings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858000" y="301752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FAISS vector index (160KB)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858000" y="352044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NVL72-specific documentation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858000" y="402336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All on-device, zero cloud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E67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CPU vs NPU COMPARISON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31520" y="1188720"/>
            <a:ext cx="10424160" cy="4572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18872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E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114800" y="118872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E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XNNPACK (CPU)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315200" y="118872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E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QNN HTP (NPU)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31520" y="1664208"/>
            <a:ext cx="10424160" cy="457200"/>
          </a:xfrm>
          <a:prstGeom prst="rect">
            <a:avLst/>
          </a:prstGeom>
          <a:solidFill>
            <a:srgbClr val="0D1117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1664208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114800" y="1664208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YOLOv8n-seg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315200" y="1664208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E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RetinaNet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31520" y="2139696"/>
            <a:ext cx="10424160" cy="45720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2139696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114800" y="2139696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MB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7315200" y="2139696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E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 MB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31520" y="2615184"/>
            <a:ext cx="10424160" cy="457200"/>
          </a:xfrm>
          <a:prstGeom prst="rect">
            <a:avLst/>
          </a:prstGeom>
          <a:solidFill>
            <a:srgbClr val="0D1117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2615184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Quantization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114800" y="2615184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FP32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7315200" y="2615184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E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INT8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31520" y="3090672"/>
            <a:ext cx="10424160" cy="45720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20" name="Text 18"/>
          <p:cNvSpPr/>
          <p:nvPr/>
        </p:nvSpPr>
        <p:spPr>
          <a:xfrm>
            <a:off x="822960" y="3090672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Hardware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114800" y="3090672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ARM Kryo cores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7315200" y="3090672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E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Hexagon HTP v79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731520" y="3566160"/>
            <a:ext cx="10424160" cy="457200"/>
          </a:xfrm>
          <a:prstGeom prst="rect">
            <a:avLst/>
          </a:prstGeom>
          <a:solidFill>
            <a:srgbClr val="0D1117"/>
          </a:solidFill>
          <a:ln/>
        </p:spPr>
      </p:sp>
      <p:sp>
        <p:nvSpPr>
          <p:cNvPr id="24" name="Text 22"/>
          <p:cNvSpPr/>
          <p:nvPr/>
        </p:nvSpPr>
        <p:spPr>
          <a:xfrm>
            <a:off x="822960" y="356616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Latency †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4114800" y="356616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~15-30 ms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7315200" y="35661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E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~3-5 ms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731520" y="4041648"/>
            <a:ext cx="10424160" cy="45720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28" name="Text 26"/>
          <p:cNvSpPr/>
          <p:nvPr/>
        </p:nvSpPr>
        <p:spPr>
          <a:xfrm>
            <a:off x="822960" y="4041648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Throughput †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4114800" y="4041648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~30-60 FPS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7315200" y="4041648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E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~100+ FPS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731520" y="4517136"/>
            <a:ext cx="10424160" cy="457200"/>
          </a:xfrm>
          <a:prstGeom prst="rect">
            <a:avLst/>
          </a:prstGeom>
          <a:solidFill>
            <a:srgbClr val="0D1117"/>
          </a:solidFill>
          <a:ln/>
        </p:spPr>
      </p:sp>
      <p:sp>
        <p:nvSpPr>
          <p:cNvPr id="32" name="Text 30"/>
          <p:cNvSpPr/>
          <p:nvPr/>
        </p:nvSpPr>
        <p:spPr>
          <a:xfrm>
            <a:off x="822960" y="4517136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 †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114800" y="4517136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Baseline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7315200" y="4517136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E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4-5x efficient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731520" y="5166360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† Estimated from Qualcomm QNN HTP benchmarks — not yet measured on our specific model. Measured FPS shown live in-app.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E67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WHAT'S NEXT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31520" y="1234440"/>
            <a:ext cx="54864" cy="640080"/>
          </a:xfrm>
          <a:prstGeom prst="rect">
            <a:avLst/>
          </a:prstGeom>
          <a:solidFill>
            <a:srgbClr val="00E676"/>
          </a:solidFill>
          <a:ln/>
        </p:spPr>
      </p:sp>
      <p:sp>
        <p:nvSpPr>
          <p:cNvPr id="4" name="Text 2"/>
          <p:cNvSpPr/>
          <p:nvPr/>
        </p:nvSpPr>
        <p:spPr>
          <a:xfrm>
            <a:off x="1097280" y="1188720"/>
            <a:ext cx="9144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Fine-grained Port Classification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097280" y="16002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Split 'network port' into HDMI, USB-A, USB-C, RJ45, SFP individually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2103120"/>
            <a:ext cx="54864" cy="640080"/>
          </a:xfrm>
          <a:prstGeom prst="rect">
            <a:avLst/>
          </a:prstGeom>
          <a:solidFill>
            <a:srgbClr val="00E676"/>
          </a:solidFill>
          <a:ln/>
        </p:spPr>
      </p:sp>
      <p:sp>
        <p:nvSpPr>
          <p:cNvPr id="7" name="Text 5"/>
          <p:cNvSpPr/>
          <p:nvPr/>
        </p:nvSpPr>
        <p:spPr>
          <a:xfrm>
            <a:off x="1097280" y="2057400"/>
            <a:ext cx="9144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LED State Detection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097280" y="246888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Classify LED colors (green/amber/red) and blink patterns for health scoring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2971800"/>
            <a:ext cx="54864" cy="640080"/>
          </a:xfrm>
          <a:prstGeom prst="rect">
            <a:avLst/>
          </a:prstGeom>
          <a:solidFill>
            <a:srgbClr val="00E676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2926080"/>
            <a:ext cx="9144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On-Device LLM Integration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097280" y="333756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LLaMA 3.2 1B via ExecuTorch for natural language troubleshooting Q&amp;A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3840480"/>
            <a:ext cx="54864" cy="640080"/>
          </a:xfrm>
          <a:prstGeom prst="rect">
            <a:avLst/>
          </a:prstGeom>
          <a:solidFill>
            <a:srgbClr val="00E676"/>
          </a:solidFill>
          <a:ln/>
        </p:spPr>
      </p:sp>
      <p:sp>
        <p:nvSpPr>
          <p:cNvPr id="13" name="Text 11"/>
          <p:cNvSpPr/>
          <p:nvPr/>
        </p:nvSpPr>
        <p:spPr>
          <a:xfrm>
            <a:off x="1097280" y="3794760"/>
            <a:ext cx="9144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 Log + Reporting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097280" y="420624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SQLite database of all inspections, exportable via secure channel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4709160"/>
            <a:ext cx="54864" cy="640080"/>
          </a:xfrm>
          <a:prstGeom prst="rect">
            <a:avLst/>
          </a:prstGeom>
          <a:solidFill>
            <a:srgbClr val="00E676"/>
          </a:solidFill>
          <a:ln/>
        </p:spPr>
      </p:sp>
      <p:sp>
        <p:nvSpPr>
          <p:cNvPr id="16" name="Text 14"/>
          <p:cNvSpPr/>
          <p:nvPr/>
        </p:nvSpPr>
        <p:spPr>
          <a:xfrm>
            <a:off x="1097280" y="4663440"/>
            <a:ext cx="9144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Multi-Rack Mapping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097280" y="507492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Combine depth estimation + detection for spatial rack layout understanding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00E67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DC-OPS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731520" y="10972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On-Device Data Center Operations Assistant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31520" y="1828800"/>
            <a:ext cx="10424160" cy="18288"/>
          </a:xfrm>
          <a:prstGeom prst="rect">
            <a:avLst/>
          </a:prstGeom>
          <a:solidFill>
            <a:srgbClr val="30363D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210312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E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017520" y="210312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github.com/abhijitbetigeri/DC-Ops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31520" y="265176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E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HuggingFace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3017520" y="265176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huggingface.co/datasets/abhijitbetigeri/dc-ops-dataset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31520" y="320040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E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3017520" y="320040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RetinaNet QNN HTP (.pte) + YOLOv8n-seg (.pte) + RAG index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31520" y="41148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with ExecuTorch + Qualcomm QNN HTP + Snapdragon 8 Elite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31520" y="502920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00E67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Thank you!</a:t>
            </a:r>
            <a:endParaRPr lang="en-US" sz="3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2026-06-28T18:21:06Z</dcterms:created>
  <dcterms:modified xsi:type="dcterms:W3CDTF">2026-06-28T18:21:06Z</dcterms:modified>
</cp:coreProperties>
</file>